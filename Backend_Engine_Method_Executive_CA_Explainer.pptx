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4241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73DCD2"/>
                </a:solidFill>
                <a:latin typeface="Aptos"/>
              </a:defRPr>
            </a:pPr>
            <a:r>
              <a:t>FROM ROLE-BASED APP TO A RELIABLE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1078992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One task in.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 complete, auditable engine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657600"/>
            <a:ext cx="987552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DAE3EF"/>
                </a:solidFill>
                <a:latin typeface="Aptos"/>
              </a:defRPr>
            </a:pPr>
            <a:r>
              <a:t>A practical method for turning the Accounts Executive’s existing onboarding app into clear business rules, data ownership, approvals, APIs and accounting-safe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66360"/>
            <a:ext cx="3154680" cy="530352"/>
          </a:xfrm>
          <a:prstGeom prst="round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294376"/>
            <a:ext cx="299923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CEO: predictable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5166360"/>
            <a:ext cx="3154680" cy="530352"/>
          </a:xfrm>
          <a:prstGeom prst="round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5294376"/>
            <a:ext cx="299923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CA: accounting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5166360"/>
            <a:ext cx="3154680" cy="530352"/>
          </a:xfrm>
          <a:prstGeom prst="round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5294376"/>
            <a:ext cx="299923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Engineering: buildable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B7C6D8"/>
                </a:solidFill>
                <a:latin typeface="Aptos"/>
              </a:defRPr>
            </a:pPr>
            <a:r>
              <a:t>Based on “Task → Backend engine: the method” • rev 5 • 28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The business problem this method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A screen tells us what the user does. The backend must define exactly what the business system does.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64008" cy="1828800"/>
          </a:xfrm>
          <a:prstGeom prst="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73352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1. Start with the real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84831"/>
            <a:ext cx="3136392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Use the existing role app, its fields, buttons, checks and status words. The app is the fixed reference.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5448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54480"/>
            <a:ext cx="64008" cy="1828800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673352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2. Translate into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084831"/>
            <a:ext cx="3136392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Decide who owns each fact, what must be checked, who may approve, and what changes when an action succeeds.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64008" cy="1828800"/>
          </a:xfrm>
          <a:prstGeom prst="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673352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3. Produce a buildable 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84831"/>
            <a:ext cx="3136392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Define tables, columns, APIs, events, automations, accounting rules, tests and production safeguards.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62642"/>
                </a:solidFill>
                <a:latin typeface="Aptos"/>
              </a:defRPr>
            </a:pPr>
            <a:r>
              <a:t>The key promise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80560"/>
            <a:ext cx="106984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2B3542"/>
                </a:solidFill>
                <a:latin typeface="Aptos"/>
              </a:defRPr>
            </a:pPr>
            <a:r>
              <a:t>Give two engineers the same app + task + method → they should produce the same backend design. Differences reveal missing rules, not personal preference.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84949"/>
                </a:solidFill>
                <a:latin typeface="Aptos"/>
              </a:defRPr>
            </a:pPr>
            <a:r>
              <a:t>Important: the method interprets the app; it does not redesign or change the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The end-to-end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One role app + one task is the input; the method produces the backend specification.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90195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395728"/>
            <a:ext cx="175564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C66B0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52928"/>
            <a:ext cx="171907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Screens • fields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buttons • statuses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852928"/>
            <a:ext cx="347472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16352" y="2148840"/>
            <a:ext cx="190195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8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2395728"/>
            <a:ext cx="175564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88B8B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2852928"/>
            <a:ext cx="171907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Give every UI element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an ID for traceability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36592" y="2852928"/>
            <a:ext cx="347472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9784" y="2148840"/>
            <a:ext cx="190195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D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2395728"/>
            <a:ext cx="175564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DDA037"/>
                </a:solidFill>
                <a:latin typeface="Aptos"/>
              </a:defRPr>
            </a:pPr>
            <a:r>
              <a:t>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852928"/>
            <a:ext cx="171907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Ownership • gates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states • authority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0024" y="2852928"/>
            <a:ext cx="347472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43216" y="2148840"/>
            <a:ext cx="190195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2395728"/>
            <a:ext cx="175564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C66B0"/>
                </a:solidFill>
                <a:latin typeface="Aptos"/>
              </a:defRPr>
            </a:pPr>
            <a:r>
              <a:t>BACKEND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6" y="2852928"/>
            <a:ext cx="171907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Tables • APIs • events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reactions • accounting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63456" y="2852928"/>
            <a:ext cx="347472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56648" y="2148840"/>
            <a:ext cx="190195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31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395728"/>
            <a:ext cx="175564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31805A"/>
                </a:solidFill>
                <a:latin typeface="Aptos"/>
              </a:defRPr>
            </a:pPr>
            <a: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2852928"/>
            <a:ext cx="171907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Contract tests • rule tests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failure + production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51960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t>Every backend output row points back to the app element that justified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92040"/>
            <a:ext cx="1014984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2B3542"/>
                </a:solidFill>
                <a:latin typeface="Aptos"/>
              </a:defRPr>
            </a:pPr>
            <a:r>
              <a:t>This traceability makes reviews easier: a CA can ask “Why is this check here?” and the team can show the original field, check or button.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Worked example: set up a vendor or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Reference task: Accounts Executive onboarding — T7 / T12 / T17, “Set up a party account”.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3383280" cy="32461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72768"/>
            <a:ext cx="64008" cy="3246120"/>
          </a:xfrm>
          <a:prstGeom prst="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91640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What the user enters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03120"/>
            <a:ext cx="3090672" cy="2651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Legal name, PAN, GSTIN, address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Party category and terms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Credit days, MSME details, bank details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“Under (header)” / account placement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72768"/>
            <a:ext cx="3383280" cy="32461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572768"/>
            <a:ext cx="64008" cy="3246120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40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What the backend decides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90672" cy="2651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Which context owns each field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Which checks block submission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Which roles approve which fields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Whether this is new or already exists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572768"/>
            <a:ext cx="3383280" cy="32461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2" y="1572768"/>
            <a:ext cx="64008" cy="3246120"/>
          </a:xfrm>
          <a:prstGeom prst="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691640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What success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103120"/>
            <a:ext cx="3090672" cy="2651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Party master record is registered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Accounting sub-ledger is opened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Finance request becomes active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Each step has a record and can be traced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84949"/>
                </a:solidFill>
                <a:latin typeface="Aptos"/>
              </a:defRPr>
            </a:pPr>
            <a:r>
              <a:t>Accounting distinction: the party gets a sub-ledger under a control account. Creating the party does not itself create a journal entry or change the control-account 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One fact has one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Separate responsibilities so modules do not overwrite each other’s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2788920" cy="713232"/>
          </a:xfrm>
          <a:prstGeom prst="round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2514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party_master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27048"/>
            <a:ext cx="3200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Identity of the party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527048"/>
            <a:ext cx="44348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Legal name, PAN, GSTIN,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51176"/>
            <a:ext cx="2788920" cy="713232"/>
          </a:xfrm>
          <a:prstGeom prst="round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34056"/>
            <a:ext cx="2514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596896"/>
            <a:ext cx="3200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Onboarding request + commercial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596896"/>
            <a:ext cx="44348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Category, credit days, MSME, bank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21024"/>
            <a:ext cx="2788920" cy="713232"/>
          </a:xfrm>
          <a:prstGeom prst="round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03904"/>
            <a:ext cx="2514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accounting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666744"/>
            <a:ext cx="3200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How the party sits in the 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666744"/>
            <a:ext cx="44348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Sub-ledger account + control account determination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90872"/>
            <a:ext cx="2788920" cy="713232"/>
          </a:xfrm>
          <a:prstGeom prst="roundRect">
            <a:avLst/>
          </a:prstGeom>
          <a:solidFill>
            <a:srgbClr val="31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73752"/>
            <a:ext cx="2514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736592"/>
            <a:ext cx="3200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Shared workflow machinery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736592"/>
            <a:ext cx="44348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Approvals, receipts, audit trail, events, timers, notices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9788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B84949"/>
                </a:solidFill>
                <a:latin typeface="Aptos"/>
              </a:defRPr>
            </a:pPr>
            <a:r>
              <a:t>A context may read another owner’s facts through a defined query; it does not directly write that context’s 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The request has one clear life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Statuses stay consistent with the app; each transition is caused by an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1463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C66B0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4630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User is entering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or editing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05740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18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267712"/>
            <a:ext cx="1463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8B8B"/>
                </a:solidFill>
                <a:latin typeface="Aptos"/>
              </a:defRPr>
            </a:pPr>
            <a:r>
              <a:t>Submitted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97480"/>
            <a:ext cx="14630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Checks pass; request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waits for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05740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D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267712"/>
            <a:ext cx="1463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DDA037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697480"/>
            <a:ext cx="14630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Required approval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steps are complete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05740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31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267712"/>
            <a:ext cx="1463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31805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697480"/>
            <a:ext cx="14630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Automations finish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2B3542"/>
                </a:solidFill>
                <a:latin typeface="Aptos"/>
              </a:defRPr>
            </a:pPr>
            <a:r>
              <a:t>registration + setup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95728" y="2670048"/>
            <a:ext cx="484632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81728" y="2670048"/>
            <a:ext cx="484632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67728" y="2670048"/>
            <a:ext cx="484632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566160" y="3429000"/>
            <a:ext cx="1005840" cy="731520"/>
          </a:xfrm>
          <a:prstGeom prst="line">
            <a:avLst/>
          </a:prstGeom>
          <a:ln w="21590">
            <a:solidFill>
              <a:srgbClr val="B84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31720" y="4041648"/>
            <a:ext cx="2514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B84949"/>
                </a:solidFill>
                <a:latin typeface="Aptos"/>
              </a:defRPr>
            </a:pPr>
            <a:r>
              <a:t>Returned → maker fixes &amp; resubmits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251960"/>
            <a:ext cx="50292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Other endings: SendBack returns the source paper; Discard closes an unsubmitted draft without deleting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Why it matters: everyone can see what is waiting, who owns the next step, and what must happen before the request goes 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Checks are business controls, not just form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A submit should be blocked only for defined reasons; warnings remain visible.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45643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417320"/>
          </a:xfrm>
          <a:prstGeom prst="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27631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39112"/>
            <a:ext cx="3163824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Required fields / format</a:t>
            </a:r>
          </a:p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Example: PAN or GSTIN format is invalid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508760"/>
            <a:ext cx="345643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1508760"/>
            <a:ext cx="64008" cy="1417320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27631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39112"/>
            <a:ext cx="3163824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Fields must agree</a:t>
            </a:r>
          </a:p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Example: GSTIN does not match the PAN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8" y="1508760"/>
            <a:ext cx="345643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9328" y="1508760"/>
            <a:ext cx="64008" cy="1417320"/>
          </a:xfrm>
          <a:prstGeom prst="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27631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39112"/>
            <a:ext cx="3163824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External verification</a:t>
            </a:r>
          </a:p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Example: GSTIN check is missing, stale or failed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83279"/>
            <a:ext cx="345643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383279"/>
            <a:ext cx="64008" cy="1417320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502151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Uniqueness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913631"/>
            <a:ext cx="3163824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No duplicate master</a:t>
            </a:r>
          </a:p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Example: GSTIN already belongs to a vendor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8848" y="3383279"/>
            <a:ext cx="345643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98848" y="3383279"/>
            <a:ext cx="64008" cy="1417320"/>
          </a:xfrm>
          <a:prstGeom prst="rect">
            <a:avLst/>
          </a:prstGeom>
          <a:solidFill>
            <a:srgbClr val="31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502151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913631"/>
            <a:ext cx="3163824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Policy threshold</a:t>
            </a:r>
          </a:p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Example: Credit days exceed the configured rule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9328" y="3383279"/>
            <a:ext cx="3456432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39328" y="3383279"/>
            <a:ext cx="64008" cy="1417320"/>
          </a:xfrm>
          <a:prstGeom prst="rect">
            <a:avLst/>
          </a:prstGeom>
          <a:solidFill>
            <a:srgbClr val="16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502151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State + Authority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913631"/>
            <a:ext cx="3163824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Right state + right person</a:t>
            </a:r>
          </a:p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Example: Cannot submit an active request; maker cannot approve own item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69280"/>
            <a:ext cx="104241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84949"/>
                </a:solidFill>
                <a:latin typeface="Aptos"/>
              </a:defRPr>
            </a:pPr>
            <a:r>
              <a:t>Rule from the method: Save can return check results without blocking; Submit runs the gates. A failed external service returns an error and does not silently change the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People decide; named automations do the repeatable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Automation has explicit permissions and failures are visible.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383280" cy="21945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" cy="2194560"/>
          </a:xfrm>
          <a:prstGeom prst="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People exercise judgement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84831"/>
            <a:ext cx="3090672" cy="1600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Accounts Executive prepares the request. Assigned checker positions review their own fields and approve or return with a reason.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54480"/>
            <a:ext cx="3383280" cy="21945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554480"/>
            <a:ext cx="64008" cy="2194560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73352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System reacts to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1"/>
            <a:ext cx="3090672" cy="1600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Approval publishes an event. A named automation registers the party, then accounting opens the sub-ledger, then finance activates the request.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54480"/>
            <a:ext cx="3383280" cy="21945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554480"/>
            <a:ext cx="64008" cy="2194560"/>
          </a:xfrm>
          <a:prstGeom prst="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673352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Failures are not hidden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084831"/>
            <a:ext cx="3090672" cy="1600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Each reaction runs once per event, can retry, and eventually appears in the owning context’s exception queue with a notice.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72000"/>
            <a:ext cx="2148840" cy="640080"/>
          </a:xfrm>
          <a:prstGeom prst="round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Approved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53512" y="4892040"/>
            <a:ext cx="566928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93592" y="4572000"/>
            <a:ext cx="2148840" cy="640080"/>
          </a:xfrm>
          <a:prstGeom prst="round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4754880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Party registered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69864" y="4892040"/>
            <a:ext cx="566928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9944" y="4572000"/>
            <a:ext cx="2148840" cy="640080"/>
          </a:xfrm>
          <a:prstGeom prst="round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4754880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Sub-ledger opened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86216" y="4892040"/>
            <a:ext cx="566928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26296" y="4572000"/>
            <a:ext cx="2148840" cy="640080"/>
          </a:xfrm>
          <a:prstGeom prst="roundRect">
            <a:avLst/>
          </a:prstGeom>
          <a:solidFill>
            <a:srgbClr val="31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6" y="4754880"/>
            <a:ext cx="2057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Request 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No anonymous “system magic”: each automation has a name and only the actions it is allowed to 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How accounting stays controlled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Master setup and financial posting are deliberately different flows.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0749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1600200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73352"/>
            <a:ext cx="48006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Master task: vendor / customer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84831"/>
            <a:ext cx="4782312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Creates the party and its sub-ledger account. No journal entry is posted and the control-account balance does not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554480"/>
            <a:ext cx="507492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554480"/>
            <a:ext cx="64008" cy="1600200"/>
          </a:xfrm>
          <a:prstGeom prst="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673352"/>
            <a:ext cx="48006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Financial task: invoice / receipt / 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084831"/>
            <a:ext cx="4782312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A financial event triggers the Posting Engine. Rules determine debit/credit lines and accounts; balanced lines are appended to the journal.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06440" y="2331720"/>
            <a:ext cx="548640" cy="0"/>
          </a:xfrm>
          <a:prstGeom prst="line">
            <a:avLst/>
          </a:prstGeom>
          <a:ln w="19050">
            <a:solidFill>
              <a:srgbClr val="DDA0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23560" y="1965960"/>
            <a:ext cx="8229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DA037"/>
                </a:solidFill>
                <a:latin typeface="Aptos"/>
              </a:defRPr>
            </a:pPr>
            <a:r>
              <a:t>Different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86200"/>
            <a:ext cx="25603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886200"/>
            <a:ext cx="64008" cy="1417320"/>
          </a:xfrm>
          <a:prstGeom prst="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005072"/>
            <a:ext cx="22860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62642"/>
                </a:solidFill>
                <a:latin typeface="Aptos"/>
              </a:defRPr>
            </a:pPr>
            <a:r>
              <a:t>Business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416552"/>
            <a:ext cx="2267712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Approved invoice, receipt or payment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82112" y="4572000"/>
            <a:ext cx="246888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74720" y="3886200"/>
            <a:ext cx="25603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3886200"/>
            <a:ext cx="64008" cy="1417320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4005072"/>
            <a:ext cx="22860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62642"/>
                </a:solidFill>
                <a:latin typeface="Aptos"/>
              </a:defRPr>
            </a:pPr>
            <a:r>
              <a:t>Posting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4416552"/>
            <a:ext cx="2267712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Versioned posting rule + account determination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62472" y="4572000"/>
            <a:ext cx="246888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3886200"/>
            <a:ext cx="25603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886200"/>
            <a:ext cx="64008" cy="1417320"/>
          </a:xfrm>
          <a:prstGeom prst="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005072"/>
            <a:ext cx="22860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62642"/>
                </a:solidFill>
                <a:latin typeface="Aptos"/>
              </a:defRPr>
            </a:pPr>
            <a:r>
              <a:t>Immutable journal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416552"/>
            <a:ext cx="2267712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Append-only entries; Dr = Cr per entry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42832" y="4572000"/>
            <a:ext cx="246888" cy="0"/>
          </a:xfrm>
          <a:prstGeom prst="line">
            <a:avLst/>
          </a:prstGeom>
          <a:ln w="25400">
            <a:solidFill>
              <a:srgbClr val="5D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235440" y="3886200"/>
            <a:ext cx="25603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3886200"/>
            <a:ext cx="64008" cy="1417320"/>
          </a:xfrm>
          <a:prstGeom prst="rect">
            <a:avLst/>
          </a:prstGeom>
          <a:solidFill>
            <a:srgbClr val="31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0032" y="4005072"/>
            <a:ext cx="22860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62642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4416552"/>
            <a:ext cx="2267712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GL balance, Trial Balance, financial statements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84949"/>
                </a:solidFill>
                <a:latin typeface="Aptos"/>
              </a:defRPr>
            </a:pPr>
            <a:r>
              <a:t>If a required mapping is missing, submission is stopped by the preview gate—or an unpostable event goes to an exception queue. Corrections are new actions, not silent edits.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Controls that make it production-ready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The same action must be safe to retry, auditable and recoverable.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1078992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64008" cy="1078992"/>
          </a:xfrm>
          <a:prstGeom prst="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36192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One committed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47672"/>
            <a:ext cx="5010912" cy="4846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State change + receipt + audit trail + event are saved together, or none 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303520" cy="1078992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64008" cy="10789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36192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Safe 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947672"/>
            <a:ext cx="5010912" cy="4846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Every call has an idempotency key; a repeat returns the original recorded outcome.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5303520" cy="1078992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64008" cy="1078992"/>
          </a:xfrm>
          <a:prstGeom prst="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953512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History stays intact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364992"/>
            <a:ext cx="5010912" cy="4846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Committed records are not rewritten. Fixes create a new action/version.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5303520" cy="1078992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834640"/>
            <a:ext cx="64008" cy="1078992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2953512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Access &amp; 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64992"/>
            <a:ext cx="5010912" cy="4846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Authority is checked on each call; sensitive values are masked and unmasked reads are logged.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51960"/>
            <a:ext cx="5303520" cy="1078992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251960"/>
            <a:ext cx="64008" cy="1078992"/>
          </a:xfrm>
          <a:prstGeom prst="rect">
            <a:avLst/>
          </a:prstGeom>
          <a:solidFill>
            <a:srgbClr val="31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4370832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Reliable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782312"/>
            <a:ext cx="5010912" cy="4846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Events are deduplicated; reactions retry on schedule; exhausted failures go to an exception queue.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251960"/>
            <a:ext cx="5303520" cy="1078992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251960"/>
            <a:ext cx="64008" cy="1078992"/>
          </a:xfrm>
          <a:prstGeom prst="rect">
            <a:avLst/>
          </a:prstGeom>
          <a:solidFill>
            <a:srgbClr val="16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370832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642"/>
                </a:solidFill>
                <a:latin typeface="Aptos"/>
              </a:defRPr>
            </a:pPr>
            <a:r>
              <a:t>Operational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782312"/>
            <a:ext cx="5010912" cy="4846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B3542"/>
                </a:solidFill>
                <a:latin typeface="Aptos"/>
              </a:defRPr>
            </a:pPr>
            <a:r>
              <a:t>Measure action latency, gate failures, reaction lag/failures and outside-service errors.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D6B7B"/>
                </a:solidFill>
                <a:latin typeface="Aptos"/>
              </a:defRPr>
            </a:pPr>
            <a:r>
              <a:t>Specified targets in the source: action p95 &lt; 500 ms (excluding outside calls); list p95 &lt; 300 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What the method delivers to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A consistent specification—not only a diagram or a list of tables.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3456432" cy="1572768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64008" cy="1572768"/>
          </a:xfrm>
          <a:prstGeom prst="rect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00200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3163824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Contexts, entities, columns, types, constraints, indexes and table placement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481328"/>
            <a:ext cx="3456432" cy="1572768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1481328"/>
            <a:ext cx="64008" cy="1572768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00200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3163824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States, actions, gates, approvers, timers, named automations and event chain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8" y="1481328"/>
            <a:ext cx="3456432" cy="1572768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9328" y="1481328"/>
            <a:ext cx="64008" cy="1572768"/>
          </a:xfrm>
          <a:prstGeom prst="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00200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Interfaces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11680"/>
            <a:ext cx="3163824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Every action/query endpoint, request/response contract and error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47288"/>
            <a:ext cx="3456432" cy="1572768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47288"/>
            <a:ext cx="64008" cy="1572768"/>
          </a:xfrm>
          <a:prstGeom prst="rect">
            <a:avLst/>
          </a:prstGeom>
          <a:solidFill>
            <a:srgbClr val="31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566160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Accounting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977639"/>
            <a:ext cx="3163824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Event payloads, posting rules, account determination keys, period gates and exceptions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8848" y="3447288"/>
            <a:ext cx="3456432" cy="1572768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98848" y="3447288"/>
            <a:ext cx="64008" cy="1572768"/>
          </a:xfrm>
          <a:prstGeom prst="rect">
            <a:avLst/>
          </a:prstGeom>
          <a:solidFill>
            <a:srgbClr val="16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566160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977639"/>
            <a:ext cx="3163824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Contract tests per scenario, rule tests per gate, OpenAPI 3.1 contract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9328" y="3447288"/>
            <a:ext cx="3456432" cy="1572768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39328" y="3447288"/>
            <a:ext cx="64008" cy="1572768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566160"/>
            <a:ext cx="31821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977639"/>
            <a:ext cx="3163824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Failure behavior, privacy controls, metrics, retention and environment migrations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84949"/>
                </a:solidFill>
                <a:latin typeface="Aptos"/>
              </a:defRPr>
            </a:pPr>
            <a:r>
              <a:t>Counts are calculated from the completed task output (Section 0); the method document itself does not specify the final example’s exact endpoint/table totals.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Build in a controlled order—and label decisions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Reuse shared platform machinery, then follow the accounting data chain.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536192"/>
            <a:ext cx="502920" cy="502920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36776"/>
            <a:ext cx="5029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Platform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463040"/>
            <a:ext cx="68580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Receipts, trail, outbox, approvals, timers, notices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587752"/>
            <a:ext cx="502920" cy="502920"/>
          </a:xfrm>
          <a:prstGeom prst="ellipse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88336"/>
            <a:ext cx="5029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14600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Party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14600"/>
            <a:ext cx="68580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Reference app → party master → sub-ledger opening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639312"/>
            <a:ext cx="502920" cy="502920"/>
          </a:xfrm>
          <a:prstGeom prst="ellipse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39896"/>
            <a:ext cx="5029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66160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Accounting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66160"/>
            <a:ext cx="68580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Posting rules, account determination, journal and balances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690872"/>
            <a:ext cx="502920" cy="502920"/>
          </a:xfrm>
          <a:prstGeom prst="ellipse">
            <a:avLst/>
          </a:prstGeom>
          <a:solidFill>
            <a:srgbClr val="31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91456"/>
            <a:ext cx="5029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617720"/>
            <a:ext cx="28346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Financial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617720"/>
            <a:ext cx="68580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Purchase invoice, GRN, payments, sales and collections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6070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B84949"/>
                </a:solidFill>
                <a:latin typeface="Aptos"/>
              </a:defRPr>
            </a:pPr>
            <a:r>
              <a:t>Decision discipline: CURRENT = in the repository today • PROPOSED = suggested, not agreed • DECIDED = explicitly agreed.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What is decided vs still proposed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B7B"/>
                </a:solidFill>
                <a:latin typeface="Aptos"/>
              </a:defRPr>
            </a:pPr>
            <a:r>
              <a:t>Use this slide to keep leadership and CA review focused on real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58368" cy="50292"/>
          </a:xfrm>
          <a:prstGeom prst="rect">
            <a:avLst/>
          </a:prstGeom>
          <a:solidFill>
            <a:srgbClr val="18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29260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8B8B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B7B"/>
                </a:solidFill>
                <a:latin typeface="Aptos"/>
              </a:defRPr>
            </a:pPr>
            <a:r>
              <a:t>BACKEND ENGINE METHOD  •  EXECUTIVE + CA EXPLAINER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074920" cy="33375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4008" cy="3337560"/>
          </a:xfrm>
          <a:prstGeom prst="rect">
            <a:avLst/>
          </a:prstGeom>
          <a:solidFill>
            <a:srgbClr val="31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73352"/>
            <a:ext cx="48006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Adopted / decided in the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84831"/>
            <a:ext cx="4782312" cy="2743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The party is a sub-ledger under a control account.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The app is the source of truth and is not changed by this method.</a:t>
            </a:r>
          </a:p>
          <a:p>
            <a:pPr>
              <a:spcAft>
                <a:spcPts val="500"/>
              </a:spcAft>
              <a:defRPr sz="1500" b="0">
                <a:solidFill>
                  <a:srgbClr val="2B3542"/>
                </a:solidFill>
                <a:latin typeface="Aptos"/>
              </a:defRPr>
            </a:pPr>
            <a:r>
              <a:t>• One owner per fact; other contexts read rather than write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554480"/>
            <a:ext cx="5074920" cy="333756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554480"/>
            <a:ext cx="64008" cy="3337560"/>
          </a:xfrm>
          <a:prstGeom prst="rect">
            <a:avLst/>
          </a:prstGeom>
          <a:solidFill>
            <a:srgbClr val="DD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673352"/>
            <a:ext cx="48006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Still proposed / needs 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084831"/>
            <a:ext cx="4782312" cy="2743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• Posting after approval as a reaction; failures go to an exception queue.</a:t>
            </a:r>
          </a:p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• Statutory book first, with book_id from day one.</a:t>
            </a:r>
          </a:p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• Soft-close behavior and who approves tax-determination changes.</a:t>
            </a:r>
          </a:p>
          <a:p>
            <a:pPr>
              <a:spcAft>
                <a:spcPts val="500"/>
              </a:spcAft>
              <a:defRPr sz="1400" b="0">
                <a:solidFill>
                  <a:srgbClr val="2B3542"/>
                </a:solidFill>
                <a:latin typeface="Aptos"/>
              </a:defRPr>
            </a:pPr>
            <a:r>
              <a:t>• Where the single platform approval mechanism is owned.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9496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t>CA review focus: confirm accounting policy, posting rule ownership, period behavior and approval authority before treating proposed items as final.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73DCD2"/>
                </a:solidFill>
                <a:latin typeface="Aptos"/>
              </a:defRPr>
            </a:pPr>
            <a: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6984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Make backend decisions explicit before code is written.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9202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73DCD2"/>
                </a:solidFill>
                <a:latin typeface="Aptos"/>
              </a:defRPr>
            </a:pPr>
            <a:r>
              <a:t>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23160"/>
            <a:ext cx="84124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Clear scope, repeatable delivery, visible ownership and measurable reliability.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47288"/>
            <a:ext cx="19202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73DCD2"/>
                </a:solidFill>
                <a:latin typeface="Aptos"/>
              </a:defRPr>
            </a:pPr>
            <a:r>
              <a:t>CA /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447288"/>
            <a:ext cx="84124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Control-account integrity, approvals, balanced immutable journals and visible exceptions.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71416"/>
            <a:ext cx="19202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73DCD2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471416"/>
            <a:ext cx="84124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Traceable schema, deterministic APIs, tested rules, safe retries and defined failures.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DAE3EF"/>
                </a:solidFill>
                <a:latin typeface="Aptos"/>
              </a:defRPr>
            </a:pPr>
            <a:r>
              <a:t>The goal is not more documentation. It is fewer hidden assumptions in the live accounting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